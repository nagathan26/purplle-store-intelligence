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solidFill>
              <a:srgbClr val="0B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APEX RETAIL STORE INTELLIGENCE</a:t>
            </a:r>
          </a:p>
          <a:p>
            <a:pPr>
              <a:spcAft>
                <a:spcPts val="2800"/>
              </a:spcAft>
              <a:defRPr sz="1800">
                <a:solidFill>
                  <a:srgbClr val="2DD4BF"/>
                </a:solidFill>
                <a:latin typeface="Calibri"/>
              </a:defRPr>
            </a:pPr>
            <a:r>
              <a:t>Deep Technical Review &amp; Reverse-Engineering of the Edge CV Analytics Engine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Presented by: Sanket Sunil Nagathan  |  System Target: YOLOv8 + FastAPI +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solidFill>
              <a:srgbClr val="0B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PRINCIPAL ARCHITECT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&amp; Solution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084FC"/>
                </a:solidFill>
                <a:latin typeface="Calibri"/>
              </a:defRPr>
            </a:pPr>
            <a:r>
              <a:t>THE RETAIL ANALYTICS GAP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 Online vs Physical Tracking: </a:t>
            </a:r>
            <a:r>
              <a:rPr b="0">
                <a:solidFill>
                  <a:srgbClr val="94A3B8"/>
                </a:solidFill>
              </a:rPr>
              <a:t>Web stores capture full clickstream and funnel metrics. Brick-and-mortar stores rely on isolated transaction totals.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 Visitor Count Inflation: </a:t>
            </a:r>
            <a:r>
              <a:rPr b="0">
                <a:solidFill>
                  <a:srgbClr val="94A3B8"/>
                </a:solidFill>
              </a:rPr>
              <a:t>Double-counting errors caused by multiple cameras, group entries, and returning visitors.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 Staff Activity Noise: </a:t>
            </a:r>
            <a:r>
              <a:rPr b="0">
                <a:solidFill>
                  <a:srgbClr val="94A3B8"/>
                </a:solidFill>
              </a:rPr>
              <a:t>Employees moving around the store skew customer footfall metrics and dwell time stats.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OUR VISION &amp; DELIVERED VALUE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 Unifying CV and POS data: </a:t>
            </a:r>
            <a:r>
              <a:rPr b="0">
                <a:solidFill>
                  <a:srgbClr val="94A3B8"/>
                </a:solidFill>
              </a:rPr>
              <a:t>Merges local edge camera feeds with transaction logs to reconstruct cohesive customer journeys.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 Staff-Filtered Customer Funnels: </a:t>
            </a:r>
            <a:r>
              <a:rPr b="0">
                <a:solidFill>
                  <a:srgbClr val="94A3B8"/>
                </a:solidFill>
              </a:rPr>
              <a:t>Subtracts employee events to generate accurate metrics for customer conversion rates.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 Actionable Store Insights: </a:t>
            </a:r>
            <a:r>
              <a:rPr b="0">
                <a:solidFill>
                  <a:srgbClr val="94A3B8"/>
                </a:solidFill>
              </a:rPr>
              <a:t>Delivers clean analytics for department dwell times, checkouts, and queue abandonment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solidFill>
              <a:srgbClr val="0B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PRINCIPAL ARCHITECT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377440" cy="3108960"/>
          </a:xfrm>
          <a:prstGeom prst="roundRect">
            <a:avLst/>
          </a:prstGeom>
          <a:solidFill>
            <a:srgbClr val="141D2F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C084FC"/>
                </a:solidFill>
                <a:latin typeface="Calibri"/>
              </a:defRPr>
            </a:pPr>
            <a:r>
              <a:t>STEP 01  CCTV &amp; CV NODES</a:t>
            </a:r>
          </a:p>
          <a:p>
            <a:pPr>
              <a:spcAft>
                <a:spcPts val="12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Inference Layer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Processes camera feeds locally using YOLOv8 person detection and ByteTrack trajectory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377440" cy="3108960"/>
          </a:xfrm>
          <a:prstGeom prst="roundRect">
            <a:avLst/>
          </a:prstGeom>
          <a:solidFill>
            <a:srgbClr val="141D2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02  FASTAPI SERVER</a:t>
            </a:r>
          </a:p>
          <a:p>
            <a:pPr>
              <a:spcAft>
                <a:spcPts val="12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Ingestion Layer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Receives event payloads, logs transactions, and populates the local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2377440" cy="3108960"/>
          </a:xfrm>
          <a:prstGeom prst="roundRect">
            <a:avLst/>
          </a:prstGeom>
          <a:solidFill>
            <a:srgbClr val="141D2F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STEP 03  SQLITE DATABASE</a:t>
            </a:r>
          </a:p>
          <a:p>
            <a:pPr>
              <a:spcAft>
                <a:spcPts val="12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Persistence Layer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Durably stores events, transaction details, and video clip processing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011680"/>
            <a:ext cx="2377440" cy="3108960"/>
          </a:xfrm>
          <a:prstGeom prst="roundRect">
            <a:avLst/>
          </a:prstGeom>
          <a:solidFill>
            <a:srgbClr val="141D2F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C084FC"/>
                </a:solidFill>
                <a:latin typeface="Calibri"/>
              </a:defRPr>
            </a:pPr>
            <a:r>
              <a:t>STEP 04  ANALYTICS ENGINE</a:t>
            </a:r>
          </a:p>
          <a:p>
            <a:pPr>
              <a:spcAft>
                <a:spcPts val="12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Intelligence Layer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Reconstructs customer sessions, matches checkouts, and renders the dashboard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solidFill>
              <a:srgbClr val="0B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PRINCIPAL ARCHITECT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Software Architecture &amp; Design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400"/>
              </a:spcAft>
              <a:defRPr sz="1400" b="1">
                <a:solidFill>
                  <a:srgbClr val="C084FC"/>
                </a:solidFill>
                <a:latin typeface="Calibri"/>
              </a:defRPr>
            </a:pPr>
            <a:r>
              <a:t>ARCHITECTURAL PATTERNS</a:t>
            </a:r>
          </a:p>
          <a:p>
            <a:pPr>
              <a:spcAft>
                <a:spcPts val="1000"/>
              </a:spcAft>
              <a:defRPr b="1" sz="1100">
                <a:solidFill>
                  <a:srgbClr val="FFFFFF"/>
                </a:solidFill>
              </a:defRPr>
            </a:pPr>
            <a:r>
              <a:t>• Layered Architecture: </a:t>
            </a:r>
            <a:r>
              <a:rPr b="0">
                <a:solidFill>
                  <a:srgbClr val="94A3B8"/>
                </a:solidFill>
              </a:rPr>
              <a:t>Clean separation between the CV edge client, REST API routers, database persistence, and analytics.</a:t>
            </a:r>
          </a:p>
          <a:p>
            <a:pPr>
              <a:spcAft>
                <a:spcPts val="1000"/>
              </a:spcAft>
              <a:defRPr b="1" sz="1100">
                <a:solidFill>
                  <a:srgbClr val="FFFFFF"/>
                </a:solidFill>
              </a:defRPr>
            </a:pPr>
            <a:r>
              <a:t>• Event-Driven Architecture: </a:t>
            </a:r>
            <a:r>
              <a:rPr b="0">
                <a:solidFill>
                  <a:srgbClr val="94A3B8"/>
                </a:solidFill>
              </a:rPr>
              <a:t>Components communicate asynchronously using event payloads (ENTRY, EXIT, ZONE_DWELL).</a:t>
            </a:r>
          </a:p>
          <a:p>
            <a:pPr>
              <a:spcAft>
                <a:spcPts val="1000"/>
              </a:spcAft>
              <a:defRPr b="1" sz="1100">
                <a:solidFill>
                  <a:srgbClr val="FFFFFF"/>
                </a:solidFill>
              </a:defRPr>
            </a:pPr>
            <a:r>
              <a:t>• Pipeline Pattern: </a:t>
            </a:r>
            <a:r>
              <a:rPr b="0">
                <a:solidFill>
                  <a:srgbClr val="94A3B8"/>
                </a:solidFill>
              </a:rPr>
              <a:t>Bounding boxes go through sequential filters (YOLO -&gt; Tracking -&gt; Torso Crop Extraction -&gt; DB Ingest).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CREATIONAL &amp; BEHAVIORAL</a:t>
            </a:r>
          </a:p>
          <a:p>
            <a:pPr>
              <a:spcAft>
                <a:spcPts val="1000"/>
              </a:spcAft>
              <a:defRPr b="1" sz="1100">
                <a:solidFill>
                  <a:srgbClr val="FFFFFF"/>
                </a:solidFill>
              </a:defRPr>
            </a:pPr>
            <a:r>
              <a:t>• Repository Pattern: </a:t>
            </a:r>
            <a:r>
              <a:rPr b="0">
                <a:solidFill>
                  <a:srgbClr val="94A3B8"/>
                </a:solidFill>
              </a:rPr>
              <a:t>Encapsulates all SQLite database queries inside a modular `Store` class.</a:t>
            </a:r>
          </a:p>
          <a:p>
            <a:pPr>
              <a:spcAft>
                <a:spcPts val="1000"/>
              </a:spcAft>
              <a:defRPr b="1" sz="1100">
                <a:solidFill>
                  <a:srgbClr val="FFFFFF"/>
                </a:solidFill>
              </a:defRPr>
            </a:pPr>
            <a:r>
              <a:t>• Factory Pattern: </a:t>
            </a:r>
            <a:r>
              <a:rPr b="0">
                <a:solidFill>
                  <a:srgbClr val="94A3B8"/>
                </a:solidFill>
              </a:rPr>
              <a:t>Normalizes incoming payloads to create standardized events via `make_event`.</a:t>
            </a:r>
          </a:p>
          <a:p>
            <a:pPr>
              <a:spcAft>
                <a:spcPts val="1000"/>
              </a:spcAft>
              <a:defRPr b="1" sz="1100">
                <a:solidFill>
                  <a:srgbClr val="FFFFFF"/>
                </a:solidFill>
              </a:defRPr>
            </a:pPr>
            <a:r>
              <a:t>• Strategy Pattern: </a:t>
            </a:r>
            <a:r>
              <a:rPr b="0">
                <a:solidFill>
                  <a:srgbClr val="94A3B8"/>
                </a:solidFill>
              </a:rPr>
              <a:t>Uniformly selects uniform detection rules ('dark' vs 'pink_black') dynamically based on layout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ENTERPRISE INFRASTRUCTURE</a:t>
            </a:r>
          </a:p>
          <a:p>
            <a:pPr>
              <a:spcAft>
                <a:spcPts val="1000"/>
              </a:spcAft>
              <a:defRPr b="1" sz="1100">
                <a:solidFill>
                  <a:srgbClr val="FFFFFF"/>
                </a:solidFill>
              </a:defRPr>
            </a:pPr>
            <a:r>
              <a:t>• Data Transfer Objects: </a:t>
            </a:r>
            <a:r>
              <a:rPr b="0">
                <a:solidFill>
                  <a:srgbClr val="94A3B8"/>
                </a:solidFill>
              </a:rPr>
              <a:t>Enforces API input data validation using Pydantic schema models.</a:t>
            </a:r>
          </a:p>
          <a:p>
            <a:pPr>
              <a:spcAft>
                <a:spcPts val="1000"/>
              </a:spcAft>
              <a:defRPr b="1" sz="1100">
                <a:solidFill>
                  <a:srgbClr val="FFFFFF"/>
                </a:solidFill>
              </a:defRPr>
            </a:pPr>
            <a:r>
              <a:t>• Middleware Logger: </a:t>
            </a:r>
            <a:r>
              <a:rPr b="0">
                <a:solidFill>
                  <a:srgbClr val="94A3B8"/>
                </a:solidFill>
              </a:rPr>
              <a:t>Captures latency metrics and correlation IDs for all requests.</a:t>
            </a:r>
          </a:p>
          <a:p>
            <a:pPr>
              <a:spcAft>
                <a:spcPts val="1000"/>
              </a:spcAft>
              <a:defRPr b="1" sz="1100">
                <a:solidFill>
                  <a:srgbClr val="FFFFFF"/>
                </a:solidFill>
              </a:defRPr>
            </a:pPr>
            <a:r>
              <a:t>• Dependency Inversion: </a:t>
            </a:r>
            <a:r>
              <a:rPr b="0">
                <a:solidFill>
                  <a:srgbClr val="94A3B8"/>
                </a:solidFill>
              </a:rPr>
              <a:t>Decouples DB path injections, allowing seamless switches between disk and memory databases.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solidFill>
              <a:srgbClr val="0B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PRINCIPAL ARCHITECT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Computer Vision &amp; Tracking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C084FC"/>
                </a:solidFill>
              </a:defRPr>
            </a:pPr>
            <a:r>
              <a:t>EDGE VISION INFRASTRUCTURE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YOLOv8 &amp; ByteTrack: </a:t>
            </a:r>
            <a:r>
              <a:rPr b="0">
                <a:solidFill>
                  <a:srgbClr val="94A3B8"/>
                </a:solidFill>
              </a:rPr>
              <a:t>Performs person bounding box tracking at the camera nodes with automatic GPU/CPU fallbacks.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Torso Crop Analysis: </a:t>
            </a:r>
            <a:r>
              <a:rPr b="0">
                <a:solidFill>
                  <a:srgbClr val="94A3B8"/>
                </a:solidFill>
              </a:rPr>
              <a:t>Color classification on upper-torso crops (25-55% height, 20-80% width) to identify store uniforms.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Staff Filtering Strategy: </a:t>
            </a:r>
            <a:r>
              <a:rPr b="0">
                <a:solidFill>
                  <a:srgbClr val="94A3B8"/>
                </a:solidFill>
              </a:rPr>
              <a:t>Requires 3 consecutive frames matching color bounds to identify staff and exclude them.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Layout-Driven Zones: </a:t>
            </a:r>
            <a:r>
              <a:rPr b="0">
                <a:solidFill>
                  <a:srgbClr val="94A3B8"/>
                </a:solidFill>
              </a:rPr>
              <a:t>Maps coordinates strictly to zones configured in `store_layout.json` to prevent coordinate bleeding.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384048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spcAft>
                <a:spcPts val="1200"/>
              </a:spcAft>
              <a:defRPr b="1" sz="1400">
                <a:solidFill>
                  <a:srgbClr val="2DD4BF"/>
                </a:solidFill>
              </a:defRPr>
            </a:pPr>
            <a:r>
              <a:t>HEURISTIC VS DEEP RE-ID TRADEOFF</a:t>
            </a:r>
          </a:p>
          <a:p>
            <a:pPr>
              <a:spcAft>
                <a:spcPts val="600"/>
              </a:spcAft>
              <a:defRPr b="1" sz="1250">
                <a:solidFill>
                  <a:srgbClr val="FFFFFF"/>
                </a:solidFill>
              </a:defRPr>
            </a:pPr>
            <a:r>
              <a:t>Why Heuristics?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Deep Re-ID models (like OSNet) are resource-intensive, requiring high GPU usage and complicating edge deployments. We chose a centroid proximity tracker combined with a mean RGB appearance histogram on torso crops.</a:t>
            </a:r>
          </a:p>
          <a:p>
            <a:pPr>
              <a:spcAft>
                <a:spcPts val="600"/>
              </a:spcAft>
              <a:defRPr b="1" sz="1250">
                <a:solidFill>
                  <a:srgbClr val="FFFFFF"/>
                </a:solidFill>
              </a:defRPr>
            </a:pPr>
            <a:r>
              <a:t>Re-Entry Matching: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Inactive tracks are swept to an exited gallery after 5 seconds. If a returning track matches a signature in the exited gallery within 10 minutes, we assign the previous physical ID with a suffix (#n).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solidFill>
              <a:srgbClr val="0B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PRINCIPAL ARCHITECT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Event-Driven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C084FC"/>
                </a:solidFill>
              </a:defRPr>
            </a:pPr>
            <a:r>
              <a:t>EVENT STRUCTURE &amp; COLLAPSE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Structured schemas: </a:t>
            </a:r>
            <a:r>
              <a:rPr b="0">
                <a:solidFill>
                  <a:srgbClr val="94A3B8"/>
                </a:solidFill>
              </a:rPr>
              <a:t>Log table schema centered on events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Idempotent ingestion: </a:t>
            </a:r>
            <a:r>
              <a:rPr b="0">
                <a:solidFill>
                  <a:srgbClr val="94A3B8"/>
                </a:solidFill>
              </a:rPr>
              <a:t>Hashed event UUIDs generated via `uuid.uuid5` discard duplicate database insertions on restart.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Session Reconstruction: </a:t>
            </a:r>
            <a:r>
              <a:rPr b="0">
                <a:solidFill>
                  <a:srgbClr val="94A3B8"/>
                </a:solidFill>
              </a:rPr>
              <a:t>Groups visitor ID suffixes (`#n` re-entries) into a single physical session to keep customer counts accurate.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Cross-Camera Linking: </a:t>
            </a:r>
            <a:r>
              <a:rPr b="0">
                <a:solidFill>
                  <a:srgbClr val="94A3B8"/>
                </a:solidFill>
              </a:rPr>
              <a:t>Correlates separate floor and billing camera tracks to entry tracks using a 60-second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384048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spcAft>
                <a:spcPts val="1200"/>
              </a:spcAft>
              <a:defRPr b="1" sz="1400">
                <a:solidFill>
                  <a:srgbClr val="2DD4BF"/>
                </a:solidFill>
              </a:defRPr>
            </a:pPr>
            <a:r>
              <a:t>DATA FLOW &amp; LIFECYCLE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1. Detection Layer (detect.py)</a:t>
            </a:r>
            <a:br/>
            <a:r>
              <a:t>   • Raw bounding box triggers zone boundaries or door line crossings.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2. Event Generation (emit.py)</a:t>
            </a:r>
            <a:br/>
            <a:r>
              <a:t>   • Formats structured JSON event with deterministic UUID. Hashed key: store+camera+type+visitor+timestamp.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3. Ingestion &amp; Storage (storage.py)</a:t>
            </a:r>
            <a:br/>
            <a:r>
              <a:t>   • Inserts into SQLite. Duplicate UUIDs are rejected by database constraints.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4. Session Build &amp; Analytics (sessions.py / metrics.py)</a:t>
            </a:r>
            <a:br/>
            <a:r>
              <a:t>   • Builds logical visitor sessions, links cross-camera tracks, and correlates POS sales for dashboard rendering.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solidFill>
              <a:srgbClr val="0B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PRINCIPAL ARCHITECT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Analytics &amp;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C084FC"/>
                </a:solidFill>
              </a:defRPr>
            </a:pPr>
            <a:r>
              <a:t>METRICS FORMULATION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Funnel Stage Ratios: </a:t>
            </a:r>
            <a:r>
              <a:rPr b="0">
                <a:solidFill>
                  <a:srgbClr val="94A3B8"/>
                </a:solidFill>
              </a:rPr>
              <a:t>Standardizes conversion ratios from entrance to zone visits and billing checkouts.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Dwell Time Max Heuristics: </a:t>
            </a:r>
            <a:r>
              <a:rPr b="0">
                <a:solidFill>
                  <a:srgbClr val="94A3B8"/>
                </a:solidFill>
              </a:rPr>
              <a:t>Uses the maximum value observed during zone dwells, preventing tracking gaps from falsely inflating the statistics.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Queue abandonment rate: </a:t>
            </a:r>
            <a:r>
              <a:rPr b="0">
                <a:solidFill>
                  <a:srgbClr val="94A3B8"/>
                </a:solidFill>
              </a:rPr>
              <a:t>Counts billing sessions with checkouts against sessions with billing queue abandons.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POS Sales Correlation: </a:t>
            </a:r>
            <a:r>
              <a:rPr b="0">
                <a:solidFill>
                  <a:srgbClr val="94A3B8"/>
                </a:solidFill>
              </a:rPr>
              <a:t>Matches POS transactions to active billing sessions within a 5-minute pre-checkout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384048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spcAft>
                <a:spcPts val="1200"/>
              </a:spcAft>
              <a:defRPr b="1" sz="1400">
                <a:solidFill>
                  <a:srgbClr val="2DD4BF"/>
                </a:solidFill>
              </a:defRPr>
            </a:pPr>
            <a:r>
              <a:t>ANOMALY DETECTION &amp; INSIGHTS</a:t>
            </a:r>
          </a:p>
          <a:p>
            <a:pPr>
              <a:spcAft>
                <a:spcPts val="600"/>
              </a:spcAft>
              <a:defRPr b="1" sz="1250">
                <a:solidFill>
                  <a:srgbClr val="FFFFFF"/>
                </a:solidFill>
              </a:defRPr>
            </a:pPr>
            <a:r>
              <a:t>Out-Of-Hours Transactions: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Flags POS checkouts recorded outside the store's open hours configured in `store_layout.json`, signaling staff checkout seeding or database errors.</a:t>
            </a:r>
          </a:p>
          <a:p>
            <a:pPr>
              <a:spcAft>
                <a:spcPts val="600"/>
              </a:spcAft>
              <a:defRPr b="1" sz="1250">
                <a:solidFill>
                  <a:srgbClr val="FFFFFF"/>
                </a:solidFill>
              </a:defRPr>
            </a:pPr>
            <a:r>
              <a:t>Unlinked Checkouts: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Identifies transactions without a matching entrance event, flagging security breaches, camera blindspots, or system failures.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solidFill>
              <a:srgbClr val="0B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PRINCIPAL ARCHITECT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Scalability, Reliability &amp; Production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C084FC"/>
                </a:solidFill>
              </a:defRPr>
            </a:pPr>
            <a:r>
              <a:t>RELIABILITY ENGINEERING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Structured Logging: </a:t>
            </a:r>
            <a:r>
              <a:rPr b="0">
                <a:solidFill>
                  <a:srgbClr val="94A3B8"/>
                </a:solidFill>
              </a:rPr>
              <a:t>Starlette middleware captures latency, trace IDs, and HTTP status codes.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Lifespan Startup Hook: </a:t>
            </a:r>
            <a:r>
              <a:rPr b="0">
                <a:solidFill>
                  <a:srgbClr val="94A3B8"/>
                </a:solidFill>
              </a:rPr>
              <a:t>Automatically reloads event history from JSONL files on boot. Re-populates the database in milliseconds and skips running slow YOLO inference again.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API Data Validation: </a:t>
            </a:r>
            <a:r>
              <a:rPr b="0">
                <a:solidFill>
                  <a:srgbClr val="94A3B8"/>
                </a:solidFill>
              </a:rPr>
              <a:t>Enforces input schemas and type safety using Pydantic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384048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spcAft>
                <a:spcPts val="1200"/>
              </a:spcAft>
              <a:defRPr b="1" sz="1400">
                <a:solidFill>
                  <a:srgbClr val="2DD4BF"/>
                </a:solidFill>
              </a:defRPr>
            </a:pPr>
            <a:r>
              <a:t>SCALABILITY &amp; TESTING</a:t>
            </a:r>
          </a:p>
          <a:p>
            <a:pPr>
              <a:spcAft>
                <a:spcPts val="600"/>
              </a:spcAft>
              <a:defRPr b="1" sz="1250">
                <a:solidFill>
                  <a:srgbClr val="FFFFFF"/>
                </a:solidFill>
              </a:defRPr>
            </a:pPr>
            <a:r>
              <a:t>Database Scalability: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Uses a clean Repository abstraction. Allows transitioning from SQLite to PostgreSQL without modifying core business logic.</a:t>
            </a:r>
          </a:p>
          <a:p>
            <a:pPr>
              <a:spcAft>
                <a:spcPts val="600"/>
              </a:spcAft>
              <a:defRPr b="1" sz="1250">
                <a:solidFill>
                  <a:srgbClr val="FFFFFF"/>
                </a:solidFill>
              </a:defRPr>
            </a:pPr>
            <a:r>
              <a:t>Test suite coverage: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Unit tests: Verify session rebuilds, trackers, and uniform colors.</a:t>
            </a:r>
            <a:br/>
            <a:r>
              <a:t>• Integration tests: Verify API endpoints, transactions, and POS matching.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solidFill>
              <a:srgbClr val="0B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PRINCIPAL ARCHITECT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Architectural Decisions &amp; Tradeoffs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084FC"/>
                </a:solidFill>
              </a:defRPr>
            </a:pPr>
            <a:r>
              <a:t>SQLite vs PostgreSQL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SQLite provides zero-config, low-overhead edge deployment without complex database management. Postgres is reserved for centralized cloud rollouts.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92024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2DD4BF"/>
                </a:solidFill>
              </a:defRPr>
            </a:pPr>
            <a:r>
              <a:t>Dynamic Sessions vs Pre-aggregated States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Reconstructing sessions dynamically at query time keeps the event log immutable. If tracking rules are updated later, historical stats update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2DD4BF"/>
                </a:solidFill>
              </a:defRPr>
            </a:pPr>
            <a:r>
              <a:t>Heuristic Re-ID vs Deep Learning Re-ID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centroid proximity tracker combined with a mean RGB appearance histogram on torso crops avoids the high GPU requirements of deep learning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120640" cy="192024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084FC"/>
                </a:solidFill>
              </a:defRPr>
            </a:pPr>
            <a:r>
              <a:t>JSONL Backups vs Direct SQL Writes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CV pipeline saves direct event outputs to durable JSONL files on the host, serving as a reliable backup and enabling fast hot reloads on start.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solidFill>
              <a:srgbClr val="0B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PRINCIPAL ARCHITECT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Roadmap &amp; Technical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084FC"/>
                </a:solidFill>
                <a:latin typeface="Calibri"/>
              </a:defRPr>
            </a:pPr>
            <a:r>
              <a:t>FUTURE ROADMAP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PostgreSQL Migration: </a:t>
            </a:r>
            <a:r>
              <a:rPr b="0">
                <a:solidFill>
                  <a:srgbClr val="94A3B8"/>
                </a:solidFill>
              </a:rPr>
              <a:t>Switch from SQLite to PostgreSQL for high-volume centralized multi-store rollouts.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Kafka Streaming: </a:t>
            </a:r>
            <a:r>
              <a:rPr b="0">
                <a:solidFill>
                  <a:srgbClr val="94A3B8"/>
                </a:solidFill>
              </a:rPr>
              <a:t>Integrate Apache Kafka to route events from thousands of cameras to distributed processing clusters.</a:t>
            </a:r>
          </a:p>
          <a:p>
            <a:pPr>
              <a:spcAft>
                <a:spcPts val="1000"/>
              </a:spcAft>
              <a:defRPr b="1" sz="1250">
                <a:solidFill>
                  <a:srgbClr val="FFFFFF"/>
                </a:solidFill>
              </a:defRPr>
            </a:pPr>
            <a:r>
              <a:t>• Advanced VLM Re-ID: </a:t>
            </a:r>
            <a:r>
              <a:rPr b="0">
                <a:solidFill>
                  <a:srgbClr val="94A3B8"/>
                </a:solidFill>
              </a:rPr>
              <a:t>Replace color histograms with small local Vision-Language Models (VLMs) to classify uniforms.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EXPECTED TECHNICAL Q&amp;A</a:t>
            </a:r>
          </a:p>
          <a:p>
            <a:pPr>
              <a:spcAft>
                <a:spcPts val="400"/>
              </a:spcAft>
              <a:defRPr b="1" sz="1250">
                <a:solidFill>
                  <a:srgbClr val="FFFFFF"/>
                </a:solidFill>
              </a:defRPr>
            </a:pPr>
            <a:r>
              <a:t>Q: How does the system handle tracking overlap in dense crowds?</a:t>
            </a:r>
          </a:p>
          <a:p>
            <a:pPr>
              <a:spcAft>
                <a:spcPts val="1000"/>
              </a:spcAft>
              <a:defRPr b="0" sz="1150">
                <a:solidFill>
                  <a:srgbClr val="94A3B8"/>
                </a:solidFill>
              </a:defRPr>
            </a:pPr>
            <a:r>
              <a:t>A: The tracker uses spatial gating and appearance correlation. If tracking breaks, the 10-minute session merging rule merges matching identities.</a:t>
            </a:r>
          </a:p>
          <a:p>
            <a:pPr>
              <a:spcAft>
                <a:spcPts val="400"/>
              </a:spcAft>
              <a:defRPr b="1" sz="1250">
                <a:solidFill>
                  <a:srgbClr val="FFFFFF"/>
                </a:solidFill>
              </a:defRPr>
            </a:pPr>
            <a:r>
              <a:t>Q: Why not run all video processing in the cloud?</a:t>
            </a:r>
          </a:p>
          <a:p>
            <a:pPr>
              <a:spcAft>
                <a:spcPts val="1000"/>
              </a:spcAft>
              <a:defRPr b="0" sz="1150">
                <a:solidFill>
                  <a:srgbClr val="94A3B8"/>
                </a:solidFill>
              </a:defRPr>
            </a:pPr>
            <a:r>
              <a:t>A: Streaming high-resolution raw video to the cloud consumes massive bandwidth. Local edge processing keeps raw video secure on-site.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